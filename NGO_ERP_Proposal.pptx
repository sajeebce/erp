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73152" cy="2560320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05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ERP Solution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A3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Non-Governmental Organizations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Proposal for Digital Transformation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920240" cy="77724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0" y="914400"/>
            <a:ext cx="54864" cy="777240"/>
          </a:xfrm>
          <a:prstGeom prst="rect">
            <a:avLst/>
          </a:prstGeom>
          <a:solidFill>
            <a:srgbClr val="F2A63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097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43800" y="960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4380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0" y="1874520"/>
            <a:ext cx="1920240" cy="77724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0" y="1874520"/>
            <a:ext cx="54864" cy="777240"/>
          </a:xfrm>
          <a:prstGeom prst="rect">
            <a:avLst/>
          </a:prstGeom>
          <a:solidFill>
            <a:srgbClr val="F2A63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574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20+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5438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858000" y="2834640"/>
            <a:ext cx="1920240" cy="77724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58000" y="2834640"/>
            <a:ext cx="54864" cy="777240"/>
          </a:xfrm>
          <a:prstGeom prst="rect">
            <a:avLst/>
          </a:prstGeom>
          <a:solidFill>
            <a:srgbClr val="F2A63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0175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43800" y="2880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54380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Served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Proposal  |  February 2026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Your Organization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NGOs Need a Modern ERP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driving the need for digital transformation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606040" cy="54864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00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Donor Accountability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fund allocation with full transparency and audit trails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4173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417320"/>
            <a:ext cx="2606040" cy="54864"/>
          </a:xfrm>
          <a:prstGeom prst="rect">
            <a:avLst/>
          </a:prstGeom>
          <a:solidFill>
            <a:srgbClr val="D487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600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Multi-Project Tracking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budgets, timelines, and deliverables across multiple programs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4173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417320"/>
            <a:ext cx="2606040" cy="54864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600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Reporting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donor reports, tax filings, and regulatory documentation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1089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108960"/>
            <a:ext cx="2606040" cy="54864"/>
          </a:xfrm>
          <a:prstGeom prst="rect">
            <a:avLst/>
          </a:prstGeom>
          <a:solidFill>
            <a:srgbClr val="D4872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Operations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152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supply chain and HR across dispersed locations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37560" y="31089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37560" y="3108960"/>
            <a:ext cx="2606040" cy="54864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3375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Integrity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52044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errors with automated reconciliation and controls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31089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108960"/>
            <a:ext cx="2606040" cy="54864"/>
          </a:xfrm>
          <a:prstGeom prst="rect">
            <a:avLst/>
          </a:prstGeom>
          <a:solidFill>
            <a:srgbClr val="D4872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375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Growth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0936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that grows as your programs and team expand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ERP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solution tailored for NGO operations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55448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554480"/>
            <a:ext cx="640080" cy="640080"/>
          </a:xfrm>
          <a:prstGeom prst="ellipse">
            <a:avLst/>
          </a:prstGeom>
          <a:solidFill>
            <a:srgbClr val="F2A63B">
              <a:alpha val="8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91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606040" y="1371600"/>
            <a:ext cx="1920240" cy="155448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554480"/>
            <a:ext cx="640080" cy="640080"/>
          </a:xfrm>
          <a:prstGeom prst="ellipse">
            <a:avLst/>
          </a:prstGeom>
          <a:solidFill>
            <a:srgbClr val="14A3A8">
              <a:alpha val="8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54880" y="1371600"/>
            <a:ext cx="1920240" cy="155448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94960" y="1554480"/>
            <a:ext cx="640080" cy="640080"/>
          </a:xfrm>
          <a:prstGeom prst="ellipse">
            <a:avLst/>
          </a:prstGeom>
          <a:solidFill>
            <a:srgbClr val="F2A63B">
              <a:alpha val="8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204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903720" y="1371600"/>
            <a:ext cx="1920240" cy="155448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43800" y="1554480"/>
            <a:ext cx="640080" cy="640080"/>
          </a:xfrm>
          <a:prstGeom prst="ellipse">
            <a:avLst/>
          </a:prstGeom>
          <a:solidFill>
            <a:srgbClr val="14A3A8">
              <a:alpha val="80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6916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088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7200" y="3154680"/>
            <a:ext cx="1920240" cy="155448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97280" y="3337560"/>
            <a:ext cx="640080" cy="640080"/>
          </a:xfrm>
          <a:prstGeom prst="ellipse">
            <a:avLst/>
          </a:prstGeom>
          <a:solidFill>
            <a:srgbClr val="F2A63B">
              <a:alpha val="80000"/>
            </a:srgb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4747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9436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2606040" y="3154680"/>
            <a:ext cx="1920240" cy="155448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46120" y="3337560"/>
            <a:ext cx="640080" cy="640080"/>
          </a:xfrm>
          <a:prstGeom prst="ellipse">
            <a:avLst/>
          </a:prstGeom>
          <a:solidFill>
            <a:srgbClr val="14A3A8">
              <a:alpha val="80000"/>
            </a:srgbClr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47472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4320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Asset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4754880" y="3154680"/>
            <a:ext cx="1920240" cy="155448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5394960" y="3337560"/>
            <a:ext cx="640080" cy="640080"/>
          </a:xfrm>
          <a:prstGeom prst="ellipse">
            <a:avLst/>
          </a:prstGeom>
          <a:solidFill>
            <a:srgbClr val="F2A63B">
              <a:alpha val="80000"/>
            </a:srgbClr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47472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9204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eTender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6903720" y="3154680"/>
            <a:ext cx="1920240" cy="1554480"/>
          </a:xfrm>
          <a:prstGeom prst="rect">
            <a:avLst/>
          </a:prstGeom>
          <a:solidFill>
            <a:srgbClr val="0E33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7543800" y="3337560"/>
            <a:ext cx="640080" cy="640080"/>
          </a:xfrm>
          <a:prstGeom prst="ellipse">
            <a:avLst/>
          </a:prstGeom>
          <a:solidFill>
            <a:srgbClr val="14A3A8">
              <a:alpha val="80000"/>
            </a:srgbClr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3474720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4088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474720" cy="5088636"/>
          </a:xfrm>
          <a:prstGeom prst="rect">
            <a:avLst/>
          </a:prstGeom>
          <a:solidFill>
            <a:srgbClr val="0B2B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 &amp;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financial management with donor fund tracking, multi-currency support, and automated compliance reporting.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Accuracy Rate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931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5196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of Accounts &amp; Financial Setup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251960" y="640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account structures with multi-level taxonomy for donor-specific fund tracking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30759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519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Ledger &amp; Reconciliation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2519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journal entries, automated bank reconciliation, and inter-fund transfers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22199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5196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Reporting &amp; Analytics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25196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sheets, income statements, cash flow, and custom donor reports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13639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5196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Integration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25196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budgets directly to accounts with real-time variance tracking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4050792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2519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Multi-Currency &amp; Tax Compliance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25196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international donations with auto-conversion and VAT/tax calculations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54864"/>
            <a:ext cx="3474720" cy="5088636"/>
          </a:xfrm>
          <a:prstGeom prst="rect">
            <a:avLst/>
          </a:prstGeom>
          <a:solidFill>
            <a:srgbClr val="0B2B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457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&amp;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17920" y="2011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procurement with eTendering, vendor management, and real-time inventory tracking across all field offices.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21792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Cost Reduction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20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Requisition &amp; Purchase Orders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640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 workflows with budget validation before commitment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759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eTendering Platform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60120" y="1554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tender creation, bid evaluation, and transparent vendor selection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2199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Management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960120" y="2468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onboarding, performance scoring, contract lifecycle tracking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3639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&amp; Warehouse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960120" y="3383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stock tracking, transfers, and automated reorder points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50792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 Matching &amp; Payment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960120" y="4297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matching (PO, receipt, invoice) with automated payment processing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Resource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employee lifecycle management from recruitment to retirement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4630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Onboarding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verification, data input, ID &amp; resource assignment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371600"/>
            <a:ext cx="54864" cy="1463040"/>
          </a:xfrm>
          <a:prstGeom prst="rect">
            <a:avLst/>
          </a:prstGeom>
          <a:solidFill>
            <a:srgbClr val="F2A6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Payroll &amp; Benefits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6616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salary calculation, benefits enrollment, tax deductions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371600"/>
            <a:ext cx="54864" cy="14630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Management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5508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requests, approvals, balance monitoring, policy compliance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063240"/>
            <a:ext cx="54864" cy="1463040"/>
          </a:xfrm>
          <a:prstGeom prst="rect">
            <a:avLst/>
          </a:prstGeom>
          <a:solidFill>
            <a:srgbClr val="F2A63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(ePMS)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724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tracking, 360° feedback, mid-year &amp; annual reviews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3756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37560" y="3063240"/>
            <a:ext cx="54864" cy="14630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461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Development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356616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needs assessment, program scheduling, skill tracking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063240"/>
            <a:ext cx="54864" cy="1463040"/>
          </a:xfrm>
          <a:prstGeom prst="rect">
            <a:avLst/>
          </a:prstGeom>
          <a:solidFill>
            <a:srgbClr val="F2A63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4612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Policy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35508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law compliance, policy enforcement, legal reporting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Choose Us Over Others?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market solutions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554480"/>
                <a:gridCol w="155448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2B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Our Solution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BRAC IT ERP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Managerium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PrismERP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5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NGO-Specific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A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Built for NGO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 Fund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A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Multi-Project Budgeting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A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eTendering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A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Integrated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 +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A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App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App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Office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A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Multi-Location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A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12-20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10-16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Dedicated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A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24/7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&amp;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60604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D7377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990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Cloud-Native Architecture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secure cloud hosting with 99.9% uptime SLA and auto-scaling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0972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097280"/>
            <a:ext cx="2606040" cy="54864"/>
          </a:xfrm>
          <a:prstGeom prst="rect">
            <a:avLst/>
          </a:prstGeom>
          <a:solidFill>
            <a:srgbClr val="D4872D"/>
          </a:solidFill>
          <a:ln/>
        </p:spPr>
      </p:sp>
      <p:sp>
        <p:nvSpPr>
          <p:cNvPr id="12" name="Shape 9"/>
          <p:cNvSpPr/>
          <p:nvPr/>
        </p:nvSpPr>
        <p:spPr>
          <a:xfrm>
            <a:off x="3520440" y="1325880"/>
            <a:ext cx="502920" cy="502920"/>
          </a:xfrm>
          <a:prstGeom prst="ellipse">
            <a:avLst/>
          </a:prstGeom>
          <a:solidFill>
            <a:srgbClr val="D4872D">
              <a:alpha val="1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3990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Design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20440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with offline-first capability for field operations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0972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097280"/>
            <a:ext cx="260604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0" y="1325880"/>
            <a:ext cx="502920" cy="502920"/>
          </a:xfrm>
          <a:prstGeom prst="ellipse">
            <a:avLst/>
          </a:prstGeom>
          <a:solidFill>
            <a:srgbClr val="0D7377">
              <a:alpha val="15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9903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Security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09360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auth, role-based access, end-to-end encryption, audit logs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29718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2971800"/>
            <a:ext cx="2606040" cy="54864"/>
          </a:xfrm>
          <a:prstGeom prst="rect">
            <a:avLst/>
          </a:prstGeom>
          <a:solidFill>
            <a:srgbClr val="D4872D"/>
          </a:solidFill>
          <a:ln/>
        </p:spPr>
      </p:sp>
      <p:sp>
        <p:nvSpPr>
          <p:cNvPr id="24" name="Shape 19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D4872D">
              <a:alpha val="15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27355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Analytics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3152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dashboards, custom KPIs, and predictive insights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37560" y="29718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37560" y="2971800"/>
            <a:ext cx="260604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Shape 24"/>
          <p:cNvSpPr/>
          <p:nvPr/>
        </p:nvSpPr>
        <p:spPr>
          <a:xfrm>
            <a:off x="3520440" y="3200400"/>
            <a:ext cx="502920" cy="502920"/>
          </a:xfrm>
          <a:prstGeom prst="ellipse">
            <a:avLst/>
          </a:prstGeom>
          <a:solidFill>
            <a:srgbClr val="0D7377">
              <a:alpha val="15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27355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6052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Integration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352044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 for seamless integration with banking, payment, and donor systems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26480" y="29718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2971800"/>
            <a:ext cx="2606040" cy="54864"/>
          </a:xfrm>
          <a:prstGeom prst="rect">
            <a:avLst/>
          </a:prstGeom>
          <a:solidFill>
            <a:srgbClr val="D4872D"/>
          </a:solidFill>
          <a:ln/>
        </p:spPr>
      </p:sp>
      <p:sp>
        <p:nvSpPr>
          <p:cNvPr id="36" name="Shape 29"/>
          <p:cNvSpPr/>
          <p:nvPr/>
        </p:nvSpPr>
        <p:spPr>
          <a:xfrm>
            <a:off x="6309360" y="3200400"/>
            <a:ext cx="502920" cy="502920"/>
          </a:xfrm>
          <a:prstGeom prst="ellipse">
            <a:avLst/>
          </a:prstGeom>
          <a:solidFill>
            <a:srgbClr val="D4872D">
              <a:alpha val="15000"/>
            </a:srgbClr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273552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4944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Tech Stack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630936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Python/Java, React, PostgreSQL — future-proof and maintainable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12-week deployment plan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74980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331720"/>
            <a:ext cx="457200" cy="457200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gathering, gap analysis, project kickoff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2331720"/>
            <a:ext cx="457200" cy="457200"/>
          </a:xfrm>
          <a:prstGeom prst="ellipse">
            <a:avLst/>
          </a:prstGeom>
          <a:solidFill>
            <a:srgbClr val="F2A63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Blueprint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mapping, user role definition, system design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2331720"/>
            <a:ext cx="457200" cy="457200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8620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Development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setup, customization, data migration, integrations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331720"/>
            <a:ext cx="457200" cy="457200"/>
          </a:xfrm>
          <a:prstGeom prst="ellipse">
            <a:avLst/>
          </a:prstGeom>
          <a:solidFill>
            <a:srgbClr val="F2A63B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8-9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end-user training, parallel run validation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26680" y="2331720"/>
            <a:ext cx="457200" cy="457200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6948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10-12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948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Go-Live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Hypercare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6948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rollout, on-site support, performance tuning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1920240" cy="868680"/>
          </a:xfrm>
          <a:prstGeom prst="rect">
            <a:avLst/>
          </a:prstGeom>
          <a:solidFill>
            <a:srgbClr val="0E3349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486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Go-Live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97480" y="4023360"/>
            <a:ext cx="1920240" cy="868680"/>
          </a:xfrm>
          <a:prstGeom prst="rect">
            <a:avLst/>
          </a:prstGeom>
          <a:solidFill>
            <a:srgbClr val="0E3349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69748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023360"/>
            <a:ext cx="1920240" cy="868680"/>
          </a:xfrm>
          <a:prstGeom prst="rect">
            <a:avLst/>
          </a:prstGeom>
          <a:solidFill>
            <a:srgbClr val="0E3349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8463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4023360"/>
            <a:ext cx="1920240" cy="868680"/>
          </a:xfrm>
          <a:prstGeom prst="rect">
            <a:avLst/>
          </a:prstGeom>
          <a:solidFill>
            <a:srgbClr val="0E3349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9951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Hours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Account 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 for all project communications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 Technical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Round-the-clock help desk via phone, email, chat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On-Site Troubleshooting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engineers available for critical issue resolution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Business Reviews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reviews and optimization recommendations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097280"/>
            <a:ext cx="3749040" cy="3291840"/>
          </a:xfrm>
          <a:prstGeom prst="rect">
            <a:avLst/>
          </a:prstGeom>
          <a:solidFill>
            <a:srgbClr val="0B2B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097280"/>
            <a:ext cx="3749040" cy="54864"/>
          </a:xfrm>
          <a:prstGeom prst="rect">
            <a:avLst/>
          </a:prstGeom>
          <a:solidFill>
            <a:srgbClr val="F2A63B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7160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0352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Transform?</a:t>
            </a:r>
            <a:endParaRPr lang="en-US" sz="18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514600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8978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live demo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926080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8978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workshop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337560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8978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scope &amp; pricing</a:t>
            </a:r>
            <a:endParaRPr lang="en-US" sz="12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74904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8978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1188720"/>
            <a:ext cx="1463040" cy="54864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your organization together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3108960"/>
            <a:ext cx="2011680" cy="777240"/>
          </a:xfrm>
          <a:prstGeom prst="rect">
            <a:avLst/>
          </a:prstGeom>
          <a:solidFill>
            <a:srgbClr val="0E3349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108960"/>
            <a:ext cx="2011680" cy="45720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sales@erpsolutions.com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108960"/>
            <a:ext cx="2011680" cy="777240"/>
          </a:xfrm>
          <a:prstGeom prst="rect">
            <a:avLst/>
          </a:prstGeom>
          <a:solidFill>
            <a:srgbClr val="0E334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3108960"/>
            <a:ext cx="2011680" cy="45720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+880 1XXX-XXXXXX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2011680" cy="777240"/>
          </a:xfrm>
          <a:prstGeom prst="rect">
            <a:avLst/>
          </a:prstGeom>
          <a:solidFill>
            <a:srgbClr val="0E3349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3108960"/>
            <a:ext cx="2011680" cy="45720"/>
          </a:xfrm>
          <a:prstGeom prst="rect">
            <a:avLst/>
          </a:prstGeom>
          <a:solidFill>
            <a:srgbClr val="F2A63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www.erpsolutions.com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© 2026  |  All Rights Reserved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NGO ERP Solution Proposal</dc:title>
  <dc:subject>PptxGenJS Presentation</dc:subject>
  <dc:creator>ERP Solutions</dc:creator>
  <cp:lastModifiedBy>ERP Solutions</cp:lastModifiedBy>
  <cp:revision>1</cp:revision>
  <dcterms:created xsi:type="dcterms:W3CDTF">2026-02-05T09:49:37Z</dcterms:created>
  <dcterms:modified xsi:type="dcterms:W3CDTF">2026-02-05T09:49:37Z</dcterms:modified>
</cp:coreProperties>
</file>